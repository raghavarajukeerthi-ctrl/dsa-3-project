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12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D4F106-2BEA-4F68-8C0F-89D60404896A}" type="datetimeFigureOut">
              <a:rPr lang="en-IN" smtClean="0"/>
              <a:t>11-09-2026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F6F8E-13A5-459D-83FE-6C12DAA0028A}" type="slidenum">
              <a:rPr lang="en-IN" smtClean="0"/>
              <a:t>‹#›</a:t>
            </a:fld>
            <a:endParaRPr lang="en-IN"/>
          </a:p>
        </p:txBody>
      </p:sp>
    </p:spTree>
    <p:extLst>
      <p:ext uri="{BB962C8B-B14F-4D97-AF65-F5344CB8AC3E}">
        <p14:creationId xmlns:p14="http://schemas.microsoft.com/office/powerpoint/2010/main" val="2732891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EF6F8E-13A5-459D-83FE-6C12DAA0028A}" type="slidenum">
              <a:rPr lang="en-IN" smtClean="0"/>
              <a:t>5</a:t>
            </a:fld>
            <a:endParaRPr lang="en-IN"/>
          </a:p>
        </p:txBody>
      </p:sp>
    </p:spTree>
    <p:extLst>
      <p:ext uri="{BB962C8B-B14F-4D97-AF65-F5344CB8AC3E}">
        <p14:creationId xmlns:p14="http://schemas.microsoft.com/office/powerpoint/2010/main" val="100218448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9/11/2026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9/11/2026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9/11/2026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9/11/2026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9/11/2026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9/11/2026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9/11/2026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9/11/2026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9/11/2026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9359B-D0C5-6A95-6309-4C36BF8289F4}"/>
              </a:ext>
            </a:extLst>
          </p:cNvPr>
          <p:cNvSpPr>
            <a:spLocks noGrp="1"/>
          </p:cNvSpPr>
          <p:nvPr>
            <p:ph type="ctrTitle"/>
          </p:nvPr>
        </p:nvSpPr>
        <p:spPr>
          <a:xfrm>
            <a:off x="964474" y="1353312"/>
            <a:ext cx="9966960" cy="3035808"/>
          </a:xfrm>
        </p:spPr>
        <p:txBody>
          <a:bodyPr/>
          <a:lstStyle/>
          <a:p>
            <a:r>
              <a:rPr lang="en-US" sz="4800" dirty="0">
                <a:latin typeface="Times New Roman" panose="02020603050405020304" pitchFamily="18" charset="0"/>
                <a:cs typeface="Times New Roman" panose="02020603050405020304" pitchFamily="18" charset="0"/>
              </a:rPr>
              <a:t>Plagiarism Detection Engine for Academic Submissions</a:t>
            </a:r>
            <a:r>
              <a:rPr lang="en-IN" sz="4800"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522A57D8-E35E-E672-9EBE-A1A4C9079275}"/>
              </a:ext>
            </a:extLst>
          </p:cNvPr>
          <p:cNvSpPr>
            <a:spLocks noGrp="1"/>
          </p:cNvSpPr>
          <p:nvPr>
            <p:ph type="subTitle" idx="1"/>
          </p:nvPr>
        </p:nvSpPr>
        <p:spPr/>
        <p:txBody>
          <a:bodyPr/>
          <a:lstStyle/>
          <a:p>
            <a:pPr fontAlgn="base"/>
            <a:r>
              <a:rPr lang="en-US" dirty="0">
                <a:latin typeface="Times New Roman" panose="02020603050405020304" pitchFamily="18" charset="0"/>
                <a:cs typeface="Times New Roman" panose="02020603050405020304" pitchFamily="18" charset="0"/>
              </a:rPr>
              <a:t>P. Jahnavi 2520090012​</a:t>
            </a:r>
          </a:p>
          <a:p>
            <a:pPr fontAlgn="base"/>
            <a:r>
              <a:rPr lang="en-US" dirty="0">
                <a:latin typeface="Times New Roman" panose="02020603050405020304" pitchFamily="18" charset="0"/>
                <a:cs typeface="Times New Roman" panose="02020603050405020304" pitchFamily="18" charset="0"/>
              </a:rPr>
              <a:t>SRR. Keerthi 2520090150​</a:t>
            </a:r>
          </a:p>
          <a:p>
            <a:endParaRPr lang="en-IN" dirty="0"/>
          </a:p>
        </p:txBody>
      </p:sp>
    </p:spTree>
    <p:extLst>
      <p:ext uri="{BB962C8B-B14F-4D97-AF65-F5344CB8AC3E}">
        <p14:creationId xmlns:p14="http://schemas.microsoft.com/office/powerpoint/2010/main" val="4249549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B673B-29BF-975D-3985-E7BD9E899C2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r>
              <a:rPr lang="en-IN"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013AFE88-56D1-3314-DCF9-3D8EE4EF1500}"/>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The Plagiarism Detection Engine for Academic Submissions is a fast and user-friendly software application designed to preserve academic integrity by </a:t>
            </a:r>
            <a:r>
              <a:rPr lang="en-IN" sz="2400" dirty="0" err="1">
                <a:latin typeface="Times New Roman" panose="02020603050405020304" pitchFamily="18" charset="0"/>
                <a:cs typeface="Times New Roman" panose="02020603050405020304" pitchFamily="18" charset="0"/>
              </a:rPr>
              <a:t>analyzing</a:t>
            </a:r>
            <a:r>
              <a:rPr lang="en-IN" sz="2400" dirty="0">
                <a:latin typeface="Times New Roman" panose="02020603050405020304" pitchFamily="18" charset="0"/>
                <a:cs typeface="Times New Roman" panose="02020603050405020304" pitchFamily="18" charset="0"/>
              </a:rPr>
              <a:t> assignments and research papers for copied content. It works by preprocessing text—removing unnecessary characters and extracting key words—and comparing it against reference databases using pattern-matching and similarity techniques. The system then generates a detailed report featuring a similarity score and highlighted matching text, allowing educators to evaluate originality quickly and efficiently without manual effort. Looking forward, future upgrades plan to integrate machine learning and online database support to enhance detection accuracy across larger document collections.​</a:t>
            </a:r>
          </a:p>
        </p:txBody>
      </p:sp>
    </p:spTree>
    <p:extLst>
      <p:ext uri="{BB962C8B-B14F-4D97-AF65-F5344CB8AC3E}">
        <p14:creationId xmlns:p14="http://schemas.microsoft.com/office/powerpoint/2010/main" val="3674655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C446C-946A-618F-8EB9-A6D1FBF92A2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r>
              <a:rPr lang="en-IN"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56CF89B8-4F71-A419-2A70-380BD51FB2F4}"/>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Maintaining academic integrity is tough nowadays because digital resources are everywhere, and checking papers manually takes too much time and easily leads to mistakes. This engine solves that problem by automating the entire process: it takes student submissions, cleans up and prepares the text, converts the words into mathematical patterns, and runs similarity checks. In the end, it gives educators a clear similarity percentage alongside a highlighted report of matching text, making it easy to see copied content and make fair, evidence-based decisions.​</a:t>
            </a:r>
          </a:p>
        </p:txBody>
      </p:sp>
    </p:spTree>
    <p:extLst>
      <p:ext uri="{BB962C8B-B14F-4D97-AF65-F5344CB8AC3E}">
        <p14:creationId xmlns:p14="http://schemas.microsoft.com/office/powerpoint/2010/main" val="2259446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3471-6E9D-AE4A-9701-6DD864D56E5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System Requirements</a:t>
            </a:r>
            <a:r>
              <a:rPr lang="en-IN"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84B284AE-CF4E-F013-CD08-E258A8543971}"/>
              </a:ext>
            </a:extLst>
          </p:cNvPr>
          <p:cNvSpPr>
            <a:spLocks noGrp="1"/>
          </p:cNvSpPr>
          <p:nvPr>
            <p:ph idx="1"/>
          </p:nvPr>
        </p:nvSpPr>
        <p:spPr>
          <a:xfrm>
            <a:off x="1069848" y="2121408"/>
            <a:ext cx="4721352" cy="4050792"/>
          </a:xfrm>
        </p:spPr>
        <p:txBody>
          <a:bodyPr/>
          <a:lstStyle/>
          <a:p>
            <a:r>
              <a:rPr lang="en-US" b="1" dirty="0">
                <a:latin typeface="Times New Roman" panose="02020603050405020304" pitchFamily="18" charset="0"/>
                <a:cs typeface="Times New Roman" panose="02020603050405020304" pitchFamily="18" charset="0"/>
              </a:rPr>
              <a:t>Software</a:t>
            </a:r>
            <a:r>
              <a:rPr lang="en-IN" b="1"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Programming Language: Java​                      </a:t>
            </a:r>
          </a:p>
          <a:p>
            <a:pPr lvl="0" fontAlgn="base"/>
            <a:r>
              <a:rPr lang="en-US" dirty="0">
                <a:latin typeface="Times New Roman" panose="02020603050405020304" pitchFamily="18" charset="0"/>
                <a:cs typeface="Times New Roman" panose="02020603050405020304" pitchFamily="18" charset="0"/>
              </a:rPr>
              <a:t>Development Environment: VS Code​</a:t>
            </a:r>
          </a:p>
          <a:p>
            <a:pPr lvl="0" fontAlgn="base"/>
            <a:r>
              <a:rPr lang="en-US" dirty="0">
                <a:latin typeface="Times New Roman" panose="02020603050405020304" pitchFamily="18" charset="0"/>
                <a:cs typeface="Times New Roman" panose="02020603050405020304" pitchFamily="18" charset="0"/>
              </a:rPr>
              <a:t>Frontend: React.js​</a:t>
            </a:r>
          </a:p>
          <a:p>
            <a:pPr lvl="0" fontAlgn="base"/>
            <a:r>
              <a:rPr lang="en-US" dirty="0">
                <a:latin typeface="Times New Roman" panose="02020603050405020304" pitchFamily="18" charset="0"/>
                <a:cs typeface="Times New Roman" panose="02020603050405020304" pitchFamily="18" charset="0"/>
              </a:rPr>
              <a:t>Database: MySQL​</a:t>
            </a:r>
          </a:p>
          <a:p>
            <a:endParaRPr lang="en-IN" dirty="0"/>
          </a:p>
        </p:txBody>
      </p:sp>
      <p:sp>
        <p:nvSpPr>
          <p:cNvPr id="5" name="TextBox 4">
            <a:extLst>
              <a:ext uri="{FF2B5EF4-FFF2-40B4-BE49-F238E27FC236}">
                <a16:creationId xmlns:a16="http://schemas.microsoft.com/office/drawing/2014/main" id="{F3109B65-E883-FE33-9081-B88FE6065CD7}"/>
              </a:ext>
            </a:extLst>
          </p:cNvPr>
          <p:cNvSpPr txBox="1"/>
          <p:nvPr/>
        </p:nvSpPr>
        <p:spPr>
          <a:xfrm>
            <a:off x="5864352" y="2121408"/>
            <a:ext cx="5257800" cy="286232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Hardware</a:t>
            </a:r>
            <a:r>
              <a:rPr lang="en-IN" b="1"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lvl="0" fontAlgn="base"/>
            <a:r>
              <a:rPr lang="en-US" dirty="0">
                <a:latin typeface="Times New Roman" panose="02020603050405020304" pitchFamily="18" charset="0"/>
                <a:cs typeface="Times New Roman" panose="02020603050405020304" pitchFamily="18" charset="0"/>
              </a:rPr>
              <a:t>Processor: Intel Core i3 ​</a:t>
            </a:r>
          </a:p>
          <a:p>
            <a:pPr lvl="0" fontAlgn="base"/>
            <a:endParaRPr lang="en-US" dirty="0">
              <a:latin typeface="Times New Roman" panose="02020603050405020304" pitchFamily="18" charset="0"/>
              <a:cs typeface="Times New Roman" panose="02020603050405020304" pitchFamily="18" charset="0"/>
            </a:endParaRPr>
          </a:p>
          <a:p>
            <a:pPr lvl="0" fontAlgn="base"/>
            <a:r>
              <a:rPr lang="en-US" dirty="0">
                <a:latin typeface="Times New Roman" panose="02020603050405020304" pitchFamily="18" charset="0"/>
                <a:cs typeface="Times New Roman" panose="02020603050405020304" pitchFamily="18" charset="0"/>
              </a:rPr>
              <a:t>RAM: 4 GB​</a:t>
            </a:r>
          </a:p>
          <a:p>
            <a:pPr lvl="0" fontAlgn="base"/>
            <a:endParaRPr lang="en-US" dirty="0">
              <a:latin typeface="Times New Roman" panose="02020603050405020304" pitchFamily="18" charset="0"/>
              <a:cs typeface="Times New Roman" panose="02020603050405020304" pitchFamily="18" charset="0"/>
            </a:endParaRPr>
          </a:p>
          <a:p>
            <a:pPr lvl="0" fontAlgn="base"/>
            <a:r>
              <a:rPr lang="en-US" dirty="0">
                <a:latin typeface="Times New Roman" panose="02020603050405020304" pitchFamily="18" charset="0"/>
                <a:cs typeface="Times New Roman" panose="02020603050405020304" pitchFamily="18" charset="0"/>
              </a:rPr>
              <a:t>Storage: 500 MB for application logic </a:t>
            </a:r>
          </a:p>
          <a:p>
            <a:endParaRPr lang="en-IN" dirty="0"/>
          </a:p>
          <a:p>
            <a:endParaRPr lang="en-IN" dirty="0"/>
          </a:p>
        </p:txBody>
      </p:sp>
    </p:spTree>
    <p:extLst>
      <p:ext uri="{BB962C8B-B14F-4D97-AF65-F5344CB8AC3E}">
        <p14:creationId xmlns:p14="http://schemas.microsoft.com/office/powerpoint/2010/main" val="2492921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37D72-1754-CBF0-0545-9F66E3C0333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Literature Survey</a:t>
            </a:r>
            <a:r>
              <a:rPr lang="en-IN"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63F19D88-A277-CDA6-F2FA-933C0BC215C5}"/>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Plagiarism detection literature </a:t>
            </a:r>
            <a:r>
              <a:rPr lang="en-US" sz="2400" dirty="0" err="1">
                <a:latin typeface="Times New Roman" panose="02020603050405020304" pitchFamily="18" charset="0"/>
                <a:cs typeface="Times New Roman" panose="02020603050405020304" pitchFamily="18" charset="0"/>
              </a:rPr>
              <a:t>emphasises</a:t>
            </a:r>
            <a:r>
              <a:rPr lang="en-US" sz="2400" dirty="0">
                <a:latin typeface="Times New Roman" panose="02020603050405020304" pitchFamily="18" charset="0"/>
                <a:cs typeface="Times New Roman" panose="02020603050405020304" pitchFamily="18" charset="0"/>
              </a:rPr>
              <a:t> preprocessing, pattern matching and robust similarity measures. Common approaches include TF–IDF, n-grams, Cosine Similarity and Jaccard index. Recent work incorporates NLP and machine learning to detect paraphrase and semantic similarity beyond verbatim copying. Our proposed engine builds on these foundations — </a:t>
            </a:r>
            <a:r>
              <a:rPr lang="en-US" sz="2400" dirty="0" err="1">
                <a:latin typeface="Times New Roman" panose="02020603050405020304" pitchFamily="18" charset="0"/>
                <a:cs typeface="Times New Roman" panose="02020603050405020304" pitchFamily="18" charset="0"/>
              </a:rPr>
              <a:t>prioritising</a:t>
            </a:r>
            <a:r>
              <a:rPr lang="en-US" sz="2400" dirty="0">
                <a:latin typeface="Times New Roman" panose="02020603050405020304" pitchFamily="18" charset="0"/>
                <a:cs typeface="Times New Roman" panose="02020603050405020304" pitchFamily="18" charset="0"/>
              </a:rPr>
              <a:t> reliable preprocessing and proven similarity metrics now, with a roadmap toward ML-enhanced semantic detection and online corpus access.</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1902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4CB4-6590-084B-8293-F4CFA895625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Methodology</a:t>
            </a:r>
            <a:r>
              <a:rPr lang="en-IN" dirty="0">
                <a:latin typeface="Times New Roman" panose="02020603050405020304" pitchFamily="18" charset="0"/>
                <a:cs typeface="Times New Roman" panose="02020603050405020304" pitchFamily="18" charset="0"/>
              </a:rPr>
              <a:t>​</a:t>
            </a:r>
          </a:p>
        </p:txBody>
      </p:sp>
      <p:pic>
        <p:nvPicPr>
          <p:cNvPr id="4" name="Content Placeholder 3" descr="preencoded.png">
            <a:extLst>
              <a:ext uri="{FF2B5EF4-FFF2-40B4-BE49-F238E27FC236}">
                <a16:creationId xmlns:a16="http://schemas.microsoft.com/office/drawing/2014/main" id="{232E647A-DAB8-AA39-6856-4D0F7BDF1B5B}"/>
              </a:ext>
            </a:extLst>
          </p:cNvPr>
          <p:cNvPicPr>
            <a:picLocks noGrp="1" noChangeAspect="1"/>
          </p:cNvPicPr>
          <p:nvPr>
            <p:ph idx="1"/>
          </p:nvPr>
        </p:nvPicPr>
        <p:blipFill>
          <a:blip r:embed="rId2"/>
          <a:stretch>
            <a:fillRect/>
          </a:stretch>
        </p:blipFill>
        <p:spPr>
          <a:xfrm>
            <a:off x="1405255" y="2120900"/>
            <a:ext cx="9387840" cy="4051300"/>
          </a:xfrm>
          <a:prstGeom prst="rect">
            <a:avLst/>
          </a:prstGeom>
        </p:spPr>
      </p:pic>
      <p:sp>
        <p:nvSpPr>
          <p:cNvPr id="6" name="TextBox 5">
            <a:extLst>
              <a:ext uri="{FF2B5EF4-FFF2-40B4-BE49-F238E27FC236}">
                <a16:creationId xmlns:a16="http://schemas.microsoft.com/office/drawing/2014/main" id="{95038019-6DD2-C489-0151-2F8BAE6FFD79}"/>
              </a:ext>
            </a:extLst>
          </p:cNvPr>
          <p:cNvSpPr txBox="1"/>
          <p:nvPr/>
        </p:nvSpPr>
        <p:spPr>
          <a:xfrm>
            <a:off x="1612900" y="2542246"/>
            <a:ext cx="6096000" cy="461665"/>
          </a:xfrm>
          <a:prstGeom prst="rect">
            <a:avLst/>
          </a:prstGeom>
          <a:noFill/>
        </p:spPr>
        <p:txBody>
          <a:bodyPr wrap="square">
            <a:spAutoFit/>
          </a:bodyPr>
          <a:lstStyle/>
          <a:p>
            <a:r>
              <a:rPr lang="en-IN" sz="2400" dirty="0"/>
              <a:t>Document Input​</a:t>
            </a:r>
          </a:p>
        </p:txBody>
      </p:sp>
      <p:sp>
        <p:nvSpPr>
          <p:cNvPr id="8" name="TextBox 7">
            <a:extLst>
              <a:ext uri="{FF2B5EF4-FFF2-40B4-BE49-F238E27FC236}">
                <a16:creationId xmlns:a16="http://schemas.microsoft.com/office/drawing/2014/main" id="{0318333C-CE89-3C46-D776-4944FCFD16D2}"/>
              </a:ext>
            </a:extLst>
          </p:cNvPr>
          <p:cNvSpPr txBox="1"/>
          <p:nvPr/>
        </p:nvSpPr>
        <p:spPr>
          <a:xfrm>
            <a:off x="1701800" y="3429000"/>
            <a:ext cx="6096000" cy="461665"/>
          </a:xfrm>
          <a:prstGeom prst="rect">
            <a:avLst/>
          </a:prstGeom>
          <a:noFill/>
        </p:spPr>
        <p:txBody>
          <a:bodyPr wrap="square">
            <a:spAutoFit/>
          </a:bodyPr>
          <a:lstStyle/>
          <a:p>
            <a:r>
              <a:rPr lang="en-IN" sz="2400" dirty="0"/>
              <a:t>Text Preprocessing​</a:t>
            </a:r>
          </a:p>
        </p:txBody>
      </p:sp>
      <p:sp>
        <p:nvSpPr>
          <p:cNvPr id="10" name="TextBox 9">
            <a:extLst>
              <a:ext uri="{FF2B5EF4-FFF2-40B4-BE49-F238E27FC236}">
                <a16:creationId xmlns:a16="http://schemas.microsoft.com/office/drawing/2014/main" id="{F3C7EF9A-0B5D-7209-A268-A925B26A1DBD}"/>
              </a:ext>
            </a:extLst>
          </p:cNvPr>
          <p:cNvSpPr txBox="1"/>
          <p:nvPr/>
        </p:nvSpPr>
        <p:spPr>
          <a:xfrm>
            <a:off x="1701800" y="4431268"/>
            <a:ext cx="6096000" cy="461665"/>
          </a:xfrm>
          <a:prstGeom prst="rect">
            <a:avLst/>
          </a:prstGeom>
          <a:noFill/>
        </p:spPr>
        <p:txBody>
          <a:bodyPr wrap="square">
            <a:spAutoFit/>
          </a:bodyPr>
          <a:lstStyle/>
          <a:p>
            <a:r>
              <a:rPr lang="en-IN" sz="2400" dirty="0"/>
              <a:t>Feature Extraction</a:t>
            </a:r>
            <a:r>
              <a:rPr lang="en-IN" sz="2000" dirty="0"/>
              <a:t>​</a:t>
            </a:r>
          </a:p>
        </p:txBody>
      </p:sp>
      <p:sp>
        <p:nvSpPr>
          <p:cNvPr id="12" name="TextBox 11">
            <a:extLst>
              <a:ext uri="{FF2B5EF4-FFF2-40B4-BE49-F238E27FC236}">
                <a16:creationId xmlns:a16="http://schemas.microsoft.com/office/drawing/2014/main" id="{0D1973BC-5472-C243-72A5-42D39EF41797}"/>
              </a:ext>
            </a:extLst>
          </p:cNvPr>
          <p:cNvSpPr txBox="1"/>
          <p:nvPr/>
        </p:nvSpPr>
        <p:spPr>
          <a:xfrm>
            <a:off x="1701800" y="5314434"/>
            <a:ext cx="6096000" cy="461665"/>
          </a:xfrm>
          <a:prstGeom prst="rect">
            <a:avLst/>
          </a:prstGeom>
          <a:noFill/>
        </p:spPr>
        <p:txBody>
          <a:bodyPr wrap="square">
            <a:spAutoFit/>
          </a:bodyPr>
          <a:lstStyle/>
          <a:p>
            <a:r>
              <a:rPr lang="en-IN" sz="2400" dirty="0"/>
              <a:t>Similarity Comparison</a:t>
            </a:r>
          </a:p>
        </p:txBody>
      </p:sp>
    </p:spTree>
    <p:extLst>
      <p:ext uri="{BB962C8B-B14F-4D97-AF65-F5344CB8AC3E}">
        <p14:creationId xmlns:p14="http://schemas.microsoft.com/office/powerpoint/2010/main" val="2645663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B6E42-46B3-217B-82EE-5D5753738D21}"/>
              </a:ext>
            </a:extLst>
          </p:cNvPr>
          <p:cNvSpPr>
            <a:spLocks noGrp="1"/>
          </p:cNvSpPr>
          <p:nvPr>
            <p:ph type="title"/>
          </p:nvPr>
        </p:nvSpPr>
        <p:spPr>
          <a:xfrm>
            <a:off x="1069848" y="484632"/>
            <a:ext cx="10058400" cy="5687568"/>
          </a:xfrm>
        </p:spPr>
        <p:txBody>
          <a:bodyPr/>
          <a:lstStyle/>
          <a:p>
            <a:r>
              <a:rPr lang="en-IN" dirty="0"/>
              <a:t>THANK YOU</a:t>
            </a:r>
          </a:p>
        </p:txBody>
      </p:sp>
      <p:sp>
        <p:nvSpPr>
          <p:cNvPr id="8" name="Content Placeholder 7">
            <a:extLst>
              <a:ext uri="{FF2B5EF4-FFF2-40B4-BE49-F238E27FC236}">
                <a16:creationId xmlns:a16="http://schemas.microsoft.com/office/drawing/2014/main" id="{510EC69F-2564-B978-56B6-D8413ED9B21F}"/>
              </a:ext>
            </a:extLst>
          </p:cNvPr>
          <p:cNvSpPr>
            <a:spLocks noGrp="1"/>
          </p:cNvSpPr>
          <p:nvPr>
            <p:ph idx="1"/>
          </p:nvPr>
        </p:nvSpPr>
        <p:spPr>
          <a:xfrm>
            <a:off x="1069848" y="484632"/>
            <a:ext cx="10058400" cy="5687568"/>
          </a:xfrm>
        </p:spPr>
        <p:txBody>
          <a:bodyPr/>
          <a:lstStyle/>
          <a:p>
            <a:endParaRPr lang="en-IN" dirty="0"/>
          </a:p>
        </p:txBody>
      </p:sp>
    </p:spTree>
    <p:extLst>
      <p:ext uri="{BB962C8B-B14F-4D97-AF65-F5344CB8AC3E}">
        <p14:creationId xmlns:p14="http://schemas.microsoft.com/office/powerpoint/2010/main" val="35419314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{BEA91FA1-8328-4EA0-B4C2-8DE4751E2532}TF2ec419c9-97c3-4958-b02a-0886397d33af51fa13e8-be82e899df39</Template>
  <TotalTime>16</TotalTime>
  <Words>363</Words>
  <Application>Microsoft Office PowerPoint</Application>
  <PresentationFormat>Widescreen</PresentationFormat>
  <Paragraphs>31</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Rockwell</vt:lpstr>
      <vt:lpstr>Rockwell Condensed</vt:lpstr>
      <vt:lpstr>Times New Roman</vt:lpstr>
      <vt:lpstr>Wingdings</vt:lpstr>
      <vt:lpstr>Wood Type</vt:lpstr>
      <vt:lpstr>Plagiarism Detection Engine for Academic Submissions​</vt:lpstr>
      <vt:lpstr>Abstract​</vt:lpstr>
      <vt:lpstr>Introduction​</vt:lpstr>
      <vt:lpstr>System Requirements​</vt:lpstr>
      <vt:lpstr>Literature Survey​</vt:lpstr>
      <vt:lpstr>Methodology​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SRR KEERTHI VARMA</dc:creator>
  <cp:lastModifiedBy>SRR KEERTHI VARMA</cp:lastModifiedBy>
  <cp:revision>1</cp:revision>
  <dcterms:created xsi:type="dcterms:W3CDTF">2026-09-11T05:21:35Z</dcterms:created>
  <dcterms:modified xsi:type="dcterms:W3CDTF">2026-09-11T05:38:16Z</dcterms:modified>
</cp:coreProperties>
</file>